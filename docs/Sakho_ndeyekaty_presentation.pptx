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sldIdLst>
    <p:sldId id="256" r:id="rId2"/>
    <p:sldId id="257" r:id="rId3"/>
    <p:sldId id="259" r:id="rId4"/>
    <p:sldId id="258" r:id="rId5"/>
    <p:sldId id="260" r:id="rId6"/>
    <p:sldId id="261" r:id="rId7"/>
    <p:sldId id="262" r:id="rId8"/>
    <p:sldId id="263" r:id="rId9"/>
    <p:sldId id="264" r:id="rId10"/>
    <p:sldId id="270"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3" d="100"/>
          <a:sy n="53" d="100"/>
        </p:scale>
        <p:origin x="115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194716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148773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321608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209A1A33-ADB0-44FA-B9C6-118AD242721F}" type="datetimeFigureOut">
              <a:rPr lang="fr-FR" smtClean="0"/>
              <a:t>28/06/2026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301974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09A1A33-ADB0-44FA-B9C6-118AD242721F}" type="datetimeFigureOut">
              <a:rPr lang="fr-FR" smtClean="0"/>
              <a:t>28/06/2026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427422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209A1A33-ADB0-44FA-B9C6-118AD242721F}" type="datetimeFigureOut">
              <a:rPr lang="fr-FR" smtClean="0"/>
              <a:t>28/06/2026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4001388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9A1A33-ADB0-44FA-B9C6-118AD242721F}" type="datetimeFigureOut">
              <a:rPr lang="fr-FR" smtClean="0"/>
              <a:t>28/06/2026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375896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09A1A33-ADB0-44FA-B9C6-118AD242721F}" type="datetimeFigureOut">
              <a:rPr lang="fr-FR" smtClean="0"/>
              <a:t>28/06/2026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3919192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09A1A33-ADB0-44FA-B9C6-118AD242721F}" type="datetimeFigureOut">
              <a:rPr lang="fr-FR" smtClean="0"/>
              <a:t>28/06/2026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544643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336995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22551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310579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79092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2027386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2351840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09A1A33-ADB0-44FA-B9C6-118AD242721F}" type="datetimeFigureOut">
              <a:rPr lang="fr-FR" smtClean="0"/>
              <a:t>28/06/2026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35B1A7D-7EC4-4F73-AD6F-FD442F68C527}" type="slidenum">
              <a:rPr lang="fr-FR" smtClean="0"/>
              <a:t>‹N°›</a:t>
            </a:fld>
            <a:endParaRPr lang="fr-FR"/>
          </a:p>
        </p:txBody>
      </p:sp>
    </p:spTree>
    <p:extLst>
      <p:ext uri="{BB962C8B-B14F-4D97-AF65-F5344CB8AC3E}">
        <p14:creationId xmlns:p14="http://schemas.microsoft.com/office/powerpoint/2010/main" val="105338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09A1A33-ADB0-44FA-B9C6-118AD242721F}" type="datetimeFigureOut">
              <a:rPr lang="fr-FR" smtClean="0"/>
              <a:t>28/06/2026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35B1A7D-7EC4-4F73-AD6F-FD442F68C527}" type="slidenum">
              <a:rPr lang="fr-FR" smtClean="0"/>
              <a:t>‹N°›</a:t>
            </a:fld>
            <a:endParaRPr lang="fr-FR"/>
          </a:p>
        </p:txBody>
      </p:sp>
    </p:spTree>
    <p:extLst>
      <p:ext uri="{BB962C8B-B14F-4D97-AF65-F5344CB8AC3E}">
        <p14:creationId xmlns:p14="http://schemas.microsoft.com/office/powerpoint/2010/main" val="2981571537"/>
      </p:ext>
    </p:extLst>
  </p:cSld>
  <p:clrMap bg1="dk1" tx1="lt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ndeyekatysakho.github.io/SAKHO_ndeyekatyAfriTalent/" TargetMode="External"/><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7D3EB5-754D-9D21-F1E0-C48D21229C97}"/>
              </a:ext>
            </a:extLst>
          </p:cNvPr>
          <p:cNvSpPr>
            <a:spLocks noGrp="1"/>
          </p:cNvSpPr>
          <p:nvPr>
            <p:ph type="title"/>
          </p:nvPr>
        </p:nvSpPr>
        <p:spPr>
          <a:xfrm>
            <a:off x="677334" y="702066"/>
            <a:ext cx="8596668" cy="1506877"/>
          </a:xfrm>
        </p:spPr>
        <p:txBody>
          <a:bodyPr anchor="b">
            <a:normAutofit/>
          </a:bodyPr>
          <a:lstStyle/>
          <a:p>
            <a:pPr algn="ctr"/>
            <a:r>
              <a:rPr lang="fr-FR" b="1" u="sng" dirty="0">
                <a:solidFill>
                  <a:schemeClr val="tx1"/>
                </a:solidFill>
              </a:rPr>
              <a:t>Projet</a:t>
            </a:r>
            <a:r>
              <a:rPr lang="fr-FR" b="1" dirty="0">
                <a:solidFill>
                  <a:schemeClr val="tx1"/>
                </a:solidFill>
              </a:rPr>
              <a:t> : AfriTalent</a:t>
            </a:r>
            <a:br>
              <a:rPr lang="fr-FR" b="1" dirty="0"/>
            </a:br>
            <a:endParaRPr lang="fr-FR" dirty="0"/>
          </a:p>
        </p:txBody>
      </p:sp>
      <p:sp>
        <p:nvSpPr>
          <p:cNvPr id="3" name="Espace réservé du contenu 2">
            <a:extLst>
              <a:ext uri="{FF2B5EF4-FFF2-40B4-BE49-F238E27FC236}">
                <a16:creationId xmlns:a16="http://schemas.microsoft.com/office/drawing/2014/main" id="{E508CE0A-C2A8-11EF-48C4-93E6EBC6C85A}"/>
              </a:ext>
            </a:extLst>
          </p:cNvPr>
          <p:cNvSpPr>
            <a:spLocks noGrp="1"/>
          </p:cNvSpPr>
          <p:nvPr>
            <p:ph idx="1"/>
          </p:nvPr>
        </p:nvSpPr>
        <p:spPr>
          <a:xfrm>
            <a:off x="677334" y="1695237"/>
            <a:ext cx="8596668" cy="4346126"/>
          </a:xfrm>
        </p:spPr>
        <p:txBody>
          <a:bodyPr anchor="ctr">
            <a:normAutofit/>
          </a:bodyPr>
          <a:lstStyle/>
          <a:p>
            <a:pPr algn="ctr">
              <a:buFont typeface="Wingdings" panose="05000000000000000000" pitchFamily="2" charset="2"/>
              <a:buChar char="Ø"/>
            </a:pPr>
            <a:r>
              <a:rPr lang="fr-FR" b="1" dirty="0"/>
              <a:t> </a:t>
            </a:r>
            <a:r>
              <a:rPr lang="fr-FR" sz="2000" b="1" dirty="0">
                <a:latin typeface="Arial Rounded MT Bold" panose="020F0704030504030204" pitchFamily="34" charset="0"/>
              </a:rPr>
              <a:t>Projet réalisé dans le cadre de :Formation / Projet de développement web</a:t>
            </a:r>
          </a:p>
          <a:p>
            <a:pPr algn="ctr">
              <a:buFont typeface="Wingdings" panose="05000000000000000000" pitchFamily="2" charset="2"/>
              <a:buChar char="Ø"/>
            </a:pPr>
            <a:r>
              <a:rPr lang="fr-FR" sz="2000" b="1" dirty="0">
                <a:latin typeface="Arial Rounded MT Bold" panose="020F0704030504030204" pitchFamily="34" charset="0"/>
              </a:rPr>
              <a:t>Réalisé par :NDEYE KATY SAKHO</a:t>
            </a:r>
          </a:p>
          <a:p>
            <a:pPr algn="ctr">
              <a:buFont typeface="Wingdings" panose="05000000000000000000" pitchFamily="2" charset="2"/>
              <a:buChar char="Ø"/>
            </a:pPr>
            <a:r>
              <a:rPr lang="fr-FR" sz="2000" b="1" dirty="0">
                <a:latin typeface="Arial Rounded MT Bold" panose="020F0704030504030204" pitchFamily="34" charset="0"/>
              </a:rPr>
              <a:t>Technologies utilisées :</a:t>
            </a:r>
          </a:p>
          <a:p>
            <a:pPr algn="ctr">
              <a:buFont typeface="Wingdings" panose="05000000000000000000" pitchFamily="2" charset="2"/>
              <a:buChar char="Ø"/>
            </a:pPr>
            <a:r>
              <a:rPr lang="fr-FR" sz="2000" b="1" dirty="0">
                <a:latin typeface="Arial Rounded MT Bold" panose="020F0704030504030204" pitchFamily="34" charset="0"/>
              </a:rPr>
              <a:t>HTML • CSS • JavaScript • Bootstrap</a:t>
            </a:r>
          </a:p>
          <a:p>
            <a:pPr algn="ctr">
              <a:buFont typeface="Wingdings" panose="05000000000000000000" pitchFamily="2" charset="2"/>
              <a:buChar char="Ø"/>
            </a:pPr>
            <a:r>
              <a:rPr lang="fr-FR" sz="2000" b="1" dirty="0">
                <a:latin typeface="Arial Rounded MT Bold" panose="020F0704030504030204" pitchFamily="34" charset="0"/>
              </a:rPr>
              <a:t>Classe :IAGE nr</a:t>
            </a:r>
          </a:p>
          <a:p>
            <a:pPr algn="ctr">
              <a:buFont typeface="Wingdings" panose="05000000000000000000" pitchFamily="2" charset="2"/>
              <a:buChar char="Ø"/>
            </a:pPr>
            <a:r>
              <a:rPr lang="fr-FR" sz="2000" b="1" dirty="0">
                <a:latin typeface="Arial Rounded MT Bold" panose="020F0704030504030204" pitchFamily="34" charset="0"/>
              </a:rPr>
              <a:t>Date : Juin 2026                                                  </a:t>
            </a:r>
          </a:p>
        </p:txBody>
      </p:sp>
    </p:spTree>
    <p:extLst>
      <p:ext uri="{BB962C8B-B14F-4D97-AF65-F5344CB8AC3E}">
        <p14:creationId xmlns:p14="http://schemas.microsoft.com/office/powerpoint/2010/main" val="157349319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227C86A-0695-5FDB-0F06-149B671CAA5A}"/>
              </a:ext>
            </a:extLst>
          </p:cNvPr>
          <p:cNvSpPr txBox="1"/>
          <p:nvPr/>
        </p:nvSpPr>
        <p:spPr>
          <a:xfrm>
            <a:off x="2270590" y="986319"/>
            <a:ext cx="6883684" cy="4452666"/>
          </a:xfrm>
          <a:prstGeom prst="rect">
            <a:avLst/>
          </a:prstGeom>
          <a:noFill/>
        </p:spPr>
        <p:txBody>
          <a:bodyPr wrap="square" rIns="36000">
            <a:spAutoFit/>
          </a:bodyPr>
          <a:lstStyle/>
          <a:p>
            <a:pPr algn="ctr"/>
            <a:r>
              <a:rPr lang="fr-FR" sz="3600" b="1" u="sng" dirty="0">
                <a:latin typeface="Arial Rounded MT Bold" panose="020F0704030504030204" pitchFamily="34" charset="0"/>
              </a:rPr>
              <a:t>Sommaire</a:t>
            </a:r>
          </a:p>
          <a:p>
            <a:pPr algn="ctr"/>
            <a:endParaRPr lang="fr-FR" sz="2400" dirty="0"/>
          </a:p>
          <a:p>
            <a:r>
              <a:rPr lang="fr-FR" sz="2400" dirty="0">
                <a:latin typeface="Arial Rounded MT Bold" panose="020F0704030504030204" pitchFamily="34" charset="0"/>
              </a:rPr>
              <a:t>1. Présentation du projet</a:t>
            </a:r>
          </a:p>
          <a:p>
            <a:r>
              <a:rPr lang="fr-FR" sz="2400" dirty="0">
                <a:latin typeface="Arial Rounded MT Bold" panose="020F0704030504030204" pitchFamily="34" charset="0"/>
              </a:rPr>
              <a:t>2. Choix de design</a:t>
            </a:r>
          </a:p>
          <a:p>
            <a:r>
              <a:rPr lang="fr-FR" sz="2400" dirty="0">
                <a:latin typeface="Arial Rounded MT Bold" panose="020F0704030504030204" pitchFamily="34" charset="0"/>
              </a:rPr>
              <a:t>3. Architecture du site</a:t>
            </a:r>
          </a:p>
          <a:p>
            <a:r>
              <a:rPr lang="fr-FR" sz="2400" dirty="0">
                <a:latin typeface="Arial Rounded MT Bold" panose="020F0704030504030204" pitchFamily="34" charset="0"/>
              </a:rPr>
              <a:t>4. Points techniques</a:t>
            </a:r>
          </a:p>
          <a:p>
            <a:r>
              <a:rPr lang="fr-FR" sz="2400" dirty="0">
                <a:latin typeface="Arial Rounded MT Bold" panose="020F0704030504030204" pitchFamily="34" charset="0"/>
              </a:rPr>
              <a:t>5. Gestion du projet avec GitHub</a:t>
            </a:r>
          </a:p>
          <a:p>
            <a:r>
              <a:rPr lang="fr-FR" sz="2400" dirty="0">
                <a:latin typeface="Arial Rounded MT Bold" panose="020F0704030504030204" pitchFamily="34" charset="0"/>
              </a:rPr>
              <a:t>6. Difficultés rencontrées</a:t>
            </a:r>
          </a:p>
          <a:p>
            <a:r>
              <a:rPr lang="fr-FR" sz="2400" dirty="0">
                <a:latin typeface="Arial Rounded MT Bold" panose="020F0704030504030204" pitchFamily="34" charset="0"/>
              </a:rPr>
              <a:t>7. Ressources utilisées</a:t>
            </a:r>
          </a:p>
          <a:p>
            <a:r>
              <a:rPr lang="fr-FR" sz="2400" dirty="0">
                <a:latin typeface="Arial Rounded MT Bold" panose="020F0704030504030204" pitchFamily="34" charset="0"/>
              </a:rPr>
              <a:t>8. Démonstration</a:t>
            </a:r>
          </a:p>
          <a:p>
            <a:r>
              <a:rPr lang="fr-FR" sz="2400" dirty="0">
                <a:latin typeface="Arial Rounded MT Bold" panose="020F0704030504030204" pitchFamily="34" charset="0"/>
              </a:rPr>
              <a:t>9. Conclusion et améliorations futures</a:t>
            </a:r>
          </a:p>
        </p:txBody>
      </p:sp>
    </p:spTree>
    <p:extLst>
      <p:ext uri="{BB962C8B-B14F-4D97-AF65-F5344CB8AC3E}">
        <p14:creationId xmlns:p14="http://schemas.microsoft.com/office/powerpoint/2010/main" val="266242959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759A920D-B0B9-8385-599A-BCB7A790A989}"/>
              </a:ext>
            </a:extLst>
          </p:cNvPr>
          <p:cNvSpPr txBox="1"/>
          <p:nvPr/>
        </p:nvSpPr>
        <p:spPr>
          <a:xfrm>
            <a:off x="657546" y="58846"/>
            <a:ext cx="8013842" cy="6771084"/>
          </a:xfrm>
          <a:prstGeom prst="rect">
            <a:avLst/>
          </a:prstGeom>
          <a:noFill/>
        </p:spPr>
        <p:txBody>
          <a:bodyPr wrap="square">
            <a:spAutoFit/>
          </a:bodyPr>
          <a:lstStyle/>
          <a:p>
            <a:pPr algn="ctr"/>
            <a:r>
              <a:rPr lang="fr-FR" sz="2000" b="1" dirty="0">
                <a:latin typeface="Arial Rounded MT Bold" panose="020F0704030504030204" pitchFamily="34" charset="0"/>
              </a:rPr>
              <a:t>Présentation du projet</a:t>
            </a:r>
          </a:p>
          <a:p>
            <a:pPr algn="ctr"/>
            <a:endParaRPr lang="fr-FR" dirty="0"/>
          </a:p>
          <a:p>
            <a:pPr algn="ctr"/>
            <a:endParaRPr lang="fr-FR" dirty="0"/>
          </a:p>
          <a:p>
            <a:r>
              <a:rPr lang="fr-FR" spc="300" dirty="0">
                <a:latin typeface="Arial Rounded MT Bold" panose="020F0704030504030204" pitchFamily="34" charset="0"/>
              </a:rPr>
              <a:t>Aujourd’hui, de nombreux freelances possèdent des compétences numériques, mais rencontrent des difficultés à trouver des missions. De leur côté, les clients cherchent des talents fiables pour réaliser leurs projets.</a:t>
            </a:r>
          </a:p>
          <a:p>
            <a:r>
              <a:rPr lang="fr-FR" spc="300" dirty="0">
                <a:latin typeface="Arial Rounded MT Bold" panose="020F0704030504030204" pitchFamily="34" charset="0"/>
              </a:rPr>
              <a:t>AfriTalent a été créé pour faciliter cette mise en relation entre freelances et clients.</a:t>
            </a:r>
          </a:p>
          <a:p>
            <a:pPr marL="285750" indent="-285750">
              <a:buFont typeface="Wingdings" panose="05000000000000000000" pitchFamily="2" charset="2"/>
              <a:buChar char="Ø"/>
            </a:pPr>
            <a:r>
              <a:rPr lang="fr-FR" spc="300" dirty="0">
                <a:effectLst>
                  <a:outerShdw blurRad="38100" dist="38100" dir="2700000" algn="tl">
                    <a:srgbClr val="000000">
                      <a:alpha val="43137"/>
                    </a:srgbClr>
                  </a:outerShdw>
                </a:effectLst>
                <a:latin typeface="Arial Rounded MT Bold" panose="020F0704030504030204" pitchFamily="34" charset="0"/>
              </a:rPr>
              <a:t>Objectif</a:t>
            </a:r>
          </a:p>
          <a:p>
            <a:r>
              <a:rPr lang="fr-FR" spc="300" dirty="0">
                <a:latin typeface="Arial Rounded MT Bold" panose="020F0704030504030204" pitchFamily="34" charset="0"/>
              </a:rPr>
              <a:t>Créer une plateforme web simple permettant de :</a:t>
            </a:r>
          </a:p>
          <a:p>
            <a:pPr marL="285750" indent="-285750">
              <a:buFont typeface="Wingdings" panose="05000000000000000000" pitchFamily="2" charset="2"/>
              <a:buChar char="v"/>
            </a:pPr>
            <a:r>
              <a:rPr lang="fr-FR" spc="300" dirty="0">
                <a:latin typeface="Arial Rounded MT Bold" panose="020F0704030504030204" pitchFamily="34" charset="0"/>
              </a:rPr>
              <a:t>découvrir des freelances ;</a:t>
            </a:r>
          </a:p>
          <a:p>
            <a:pPr marL="285750" indent="-285750">
              <a:buFont typeface="Wingdings" panose="05000000000000000000" pitchFamily="2" charset="2"/>
              <a:buChar char="v"/>
            </a:pPr>
            <a:r>
              <a:rPr lang="fr-FR" spc="300" dirty="0">
                <a:latin typeface="Arial Rounded MT Bold" panose="020F0704030504030204" pitchFamily="34" charset="0"/>
              </a:rPr>
              <a:t> consulter leurs compétences ;</a:t>
            </a:r>
          </a:p>
          <a:p>
            <a:pPr marL="285750" indent="-285750">
              <a:buFont typeface="Wingdings" panose="05000000000000000000" pitchFamily="2" charset="2"/>
              <a:buChar char="v"/>
            </a:pPr>
            <a:r>
              <a:rPr lang="fr-FR" spc="300" dirty="0">
                <a:latin typeface="Arial Rounded MT Bold" panose="020F0704030504030204" pitchFamily="34" charset="0"/>
              </a:rPr>
              <a:t> faciliter les échanges avec les clients.</a:t>
            </a:r>
          </a:p>
          <a:p>
            <a:pPr marL="285750" indent="-285750">
              <a:buFont typeface="Wingdings" panose="05000000000000000000" pitchFamily="2" charset="2"/>
              <a:buChar char="Ø"/>
            </a:pPr>
            <a:r>
              <a:rPr lang="fr-FR" spc="300" dirty="0">
                <a:effectLst>
                  <a:outerShdw blurRad="38100" dist="38100" dir="2700000" algn="tl">
                    <a:srgbClr val="000000">
                      <a:alpha val="43137"/>
                    </a:srgbClr>
                  </a:outerShdw>
                </a:effectLst>
                <a:latin typeface="Arial Rounded MT Bold" panose="020F0704030504030204" pitchFamily="34" charset="0"/>
              </a:rPr>
              <a:t>Public cible</a:t>
            </a:r>
          </a:p>
          <a:p>
            <a:pPr marL="285750" indent="-285750">
              <a:buFont typeface="Wingdings" panose="05000000000000000000" pitchFamily="2" charset="2"/>
              <a:buChar char="v"/>
            </a:pPr>
            <a:r>
              <a:rPr lang="fr-FR" spc="300" dirty="0">
                <a:latin typeface="Arial Rounded MT Bold" panose="020F0704030504030204" pitchFamily="34" charset="0"/>
              </a:rPr>
              <a:t> Freelances dans le domaine du numérique ;</a:t>
            </a:r>
          </a:p>
          <a:p>
            <a:pPr marL="285750" indent="-285750">
              <a:buFont typeface="Wingdings" panose="05000000000000000000" pitchFamily="2" charset="2"/>
              <a:buChar char="v"/>
            </a:pPr>
            <a:r>
              <a:rPr lang="fr-FR" spc="300" dirty="0">
                <a:latin typeface="Arial Rounded MT Bold" panose="020F0704030504030204" pitchFamily="34" charset="0"/>
              </a:rPr>
              <a:t>Entreprises et particuliers ayant besoin de services.</a:t>
            </a:r>
          </a:p>
          <a:p>
            <a:pPr marL="285750" indent="-285750">
              <a:buFont typeface="Wingdings" panose="05000000000000000000" pitchFamily="2" charset="2"/>
              <a:buChar char="Ø"/>
            </a:pPr>
            <a:r>
              <a:rPr lang="fr-FR" spc="300" dirty="0">
                <a:latin typeface="Arial Rounded MT Bold" panose="020F0704030504030204" pitchFamily="34" charset="0"/>
              </a:rPr>
              <a:t>Solution proposée</a:t>
            </a:r>
          </a:p>
          <a:p>
            <a:r>
              <a:rPr lang="fr-FR" spc="300" dirty="0">
                <a:latin typeface="Arial Rounded MT Bold" panose="020F0704030504030204" pitchFamily="34" charset="0"/>
              </a:rPr>
              <a:t> une interface moderne avec :</a:t>
            </a:r>
          </a:p>
          <a:p>
            <a:pPr marL="285750" indent="-285750">
              <a:buFont typeface="Wingdings" panose="05000000000000000000" pitchFamily="2" charset="2"/>
              <a:buChar char="v"/>
            </a:pPr>
            <a:r>
              <a:rPr lang="fr-FR" spc="300" dirty="0">
                <a:latin typeface="Arial Rounded MT Bold" panose="020F0704030504030204" pitchFamily="34" charset="0"/>
              </a:rPr>
              <a:t> présentation des profils ;</a:t>
            </a:r>
          </a:p>
          <a:p>
            <a:pPr marL="285750" indent="-285750">
              <a:buFont typeface="Wingdings" panose="05000000000000000000" pitchFamily="2" charset="2"/>
              <a:buChar char="v"/>
            </a:pPr>
            <a:r>
              <a:rPr lang="fr-FR" spc="300" dirty="0">
                <a:latin typeface="Arial Rounded MT Bold" panose="020F0704030504030204" pitchFamily="34" charset="0"/>
              </a:rPr>
              <a:t> système de filtrage ;</a:t>
            </a:r>
          </a:p>
          <a:p>
            <a:pPr marL="285750" indent="-285750">
              <a:buFont typeface="Wingdings" panose="05000000000000000000" pitchFamily="2" charset="2"/>
              <a:buChar char="v"/>
            </a:pPr>
            <a:r>
              <a:rPr lang="fr-FR" spc="300" dirty="0">
                <a:latin typeface="Arial Rounded MT Bold" panose="020F0704030504030204" pitchFamily="34" charset="0"/>
              </a:rPr>
              <a:t> formulaire de contact</a:t>
            </a:r>
            <a:r>
              <a:rPr lang="fr-FR" dirty="0">
                <a:latin typeface="Arial Rounded MT Bold" panose="020F0704030504030204" pitchFamily="34" charset="0"/>
              </a:rPr>
              <a:t>.</a:t>
            </a:r>
          </a:p>
        </p:txBody>
      </p:sp>
    </p:spTree>
    <p:extLst>
      <p:ext uri="{BB962C8B-B14F-4D97-AF65-F5344CB8AC3E}">
        <p14:creationId xmlns:p14="http://schemas.microsoft.com/office/powerpoint/2010/main" val="401019158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AE22B025-4D9D-4EAB-B717-BA42B8FBD4C4}"/>
              </a:ext>
            </a:extLst>
          </p:cNvPr>
          <p:cNvSpPr txBox="1"/>
          <p:nvPr/>
        </p:nvSpPr>
        <p:spPr>
          <a:xfrm>
            <a:off x="1068512" y="143838"/>
            <a:ext cx="8085762" cy="6555641"/>
          </a:xfrm>
          <a:prstGeom prst="rect">
            <a:avLst/>
          </a:prstGeom>
          <a:noFill/>
        </p:spPr>
        <p:txBody>
          <a:bodyPr wrap="square">
            <a:spAutoFit/>
          </a:bodyPr>
          <a:lstStyle/>
          <a:p>
            <a:pPr algn="ctr"/>
            <a:r>
              <a:rPr lang="fr-FR" sz="3600" dirty="0"/>
              <a:t>Choix de design</a:t>
            </a:r>
            <a:endParaRPr lang="fr-FR" dirty="0"/>
          </a:p>
          <a:p>
            <a:pPr algn="ctr"/>
            <a:r>
              <a:rPr lang="fr-FR" dirty="0"/>
              <a:t>Pour concevoir l’interface d’</a:t>
            </a:r>
            <a:r>
              <a:rPr lang="fr-FR" sz="2400" b="1" dirty="0"/>
              <a:t>AfriTalent</a:t>
            </a:r>
            <a:r>
              <a:rPr lang="fr-FR" dirty="0"/>
              <a:t>, j’ai sélectionné une palette de couleurs, des polices et un style graphique qui reflètent les valeurs du projet : la confiance, la simplicité et le professionnalisme.</a:t>
            </a:r>
          </a:p>
          <a:p>
            <a:pPr marL="285750" indent="-285750">
              <a:buFont typeface="Wingdings" panose="05000000000000000000" pitchFamily="2" charset="2"/>
              <a:buChar char="Ø"/>
            </a:pPr>
            <a:r>
              <a:rPr lang="fr-FR" dirty="0"/>
              <a:t>Palette de couleurs</a:t>
            </a:r>
          </a:p>
          <a:p>
            <a:pPr marL="285750" indent="-285750">
              <a:buFont typeface="Wingdings" panose="05000000000000000000" pitchFamily="2" charset="2"/>
              <a:buChar char="v"/>
            </a:pPr>
            <a:r>
              <a:rPr lang="fr-FR" dirty="0"/>
              <a:t> Vert principal : #31572C </a:t>
            </a:r>
            <a:r>
              <a:rPr lang="fr-FR" dirty="0">
                <a:solidFill>
                  <a:srgbClr val="92D050"/>
                </a:solidFill>
              </a:rPr>
              <a:t>/* Couleur principale : Vert foncé (identité du site) */</a:t>
            </a:r>
          </a:p>
          <a:p>
            <a:pPr marL="285750" indent="-285750">
              <a:buFont typeface="Wingdings" panose="05000000000000000000" pitchFamily="2" charset="2"/>
              <a:buChar char="v"/>
            </a:pPr>
            <a:r>
              <a:rPr lang="fr-FR" dirty="0"/>
              <a:t> Vert secondaire : #4F772D </a:t>
            </a:r>
            <a:r>
              <a:rPr lang="fr-FR" dirty="0">
                <a:solidFill>
                  <a:srgbClr val="92D050"/>
                </a:solidFill>
              </a:rPr>
              <a:t>/* Couleur secondaire : Vert (boutons et éléments interactifs) */</a:t>
            </a:r>
          </a:p>
          <a:p>
            <a:pPr marL="285750" indent="-285750">
              <a:buFont typeface="Wingdings" panose="05000000000000000000" pitchFamily="2" charset="2"/>
              <a:buChar char="v"/>
            </a:pPr>
            <a:r>
              <a:rPr lang="fr-FR" dirty="0"/>
              <a:t> Fond : #ECF39E</a:t>
            </a:r>
          </a:p>
          <a:p>
            <a:pPr marL="285750" indent="-285750">
              <a:buFont typeface="Wingdings" panose="05000000000000000000" pitchFamily="2" charset="2"/>
              <a:buChar char="v"/>
            </a:pPr>
            <a:r>
              <a:rPr lang="fr-FR" dirty="0"/>
              <a:t> Titres : #132A13</a:t>
            </a:r>
          </a:p>
          <a:p>
            <a:pPr marL="285750" indent="-285750">
              <a:buFont typeface="Wingdings" panose="05000000000000000000" pitchFamily="2" charset="2"/>
              <a:buChar char="v"/>
            </a:pPr>
            <a:r>
              <a:rPr lang="fr-FR" dirty="0"/>
              <a:t> Texte : #000000 </a:t>
            </a:r>
            <a:r>
              <a:rPr lang="fr-FR" dirty="0">
                <a:solidFill>
                  <a:srgbClr val="92D050"/>
                </a:solidFill>
              </a:rPr>
              <a:t>/* Couleur des paragraphes : Noir */</a:t>
            </a:r>
          </a:p>
          <a:p>
            <a:pPr marL="285750" indent="-285750">
              <a:buFont typeface="Wingdings" panose="05000000000000000000" pitchFamily="2" charset="2"/>
              <a:buChar char="v"/>
            </a:pPr>
            <a:r>
              <a:rPr lang="fr-FR" dirty="0"/>
              <a:t> Texte sur boutons : #FFFFFF </a:t>
            </a:r>
            <a:r>
              <a:rPr lang="fr-FR" dirty="0">
                <a:solidFill>
                  <a:srgbClr val="92D050"/>
                </a:solidFill>
              </a:rPr>
              <a:t>/* Couleur du texte sur les boutons : Blanc </a:t>
            </a:r>
          </a:p>
          <a:p>
            <a:r>
              <a:rPr lang="fr-FR" dirty="0"/>
              <a:t>Cette palette de couleurs permet de créer une interface harmonieuse et moderne. Les nuances de vert symbolisent la confiance, la croissance et le développement, tandis que le fond clair met en valeur le contenu et facilite la lecture.</a:t>
            </a:r>
          </a:p>
          <a:p>
            <a:pPr marL="285750" indent="-285750">
              <a:buFont typeface="Wingdings" panose="05000000000000000000" pitchFamily="2" charset="2"/>
              <a:buChar char="Ø"/>
            </a:pPr>
            <a:r>
              <a:rPr lang="fr-FR" dirty="0"/>
              <a:t>Polices utilisées</a:t>
            </a:r>
          </a:p>
          <a:p>
            <a:pPr marL="285750" indent="-285750">
              <a:buFont typeface="Wingdings" panose="05000000000000000000" pitchFamily="2" charset="2"/>
              <a:buChar char="v"/>
            </a:pPr>
            <a:r>
              <a:rPr lang="fr-FR" dirty="0"/>
              <a:t> Montserrat (titres) : cette police est moderne, élégante et attire facilement l’attention. Elle met en valeur les différentes sections du site.</a:t>
            </a:r>
          </a:p>
          <a:p>
            <a:pPr marL="285750" indent="-285750">
              <a:buFont typeface="Wingdings" panose="05000000000000000000" pitchFamily="2" charset="2"/>
              <a:buChar char="v"/>
            </a:pPr>
            <a:r>
              <a:rPr lang="fr-FR" dirty="0"/>
              <a:t> Sora (paragraphes et sous-titres) : cette police est simple, lisible et agréable à lire sur tous les types d’écran.</a:t>
            </a:r>
          </a:p>
        </p:txBody>
      </p:sp>
    </p:spTree>
    <p:extLst>
      <p:ext uri="{BB962C8B-B14F-4D97-AF65-F5344CB8AC3E}">
        <p14:creationId xmlns:p14="http://schemas.microsoft.com/office/powerpoint/2010/main" val="372093538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C4C4FDC-54B3-87EA-796D-B2631A900188}"/>
              </a:ext>
            </a:extLst>
          </p:cNvPr>
          <p:cNvSpPr txBox="1"/>
          <p:nvPr/>
        </p:nvSpPr>
        <p:spPr>
          <a:xfrm>
            <a:off x="1448656" y="801384"/>
            <a:ext cx="7705617" cy="4216539"/>
          </a:xfrm>
          <a:prstGeom prst="rect">
            <a:avLst/>
          </a:prstGeom>
          <a:noFill/>
        </p:spPr>
        <p:txBody>
          <a:bodyPr wrap="square">
            <a:spAutoFit/>
          </a:bodyPr>
          <a:lstStyle/>
          <a:p>
            <a:pPr marL="342900" indent="-342900">
              <a:buFont typeface="Wingdings" panose="05000000000000000000" pitchFamily="2" charset="2"/>
              <a:buChar char="Ø"/>
            </a:pPr>
            <a:r>
              <a:rPr lang="fr-FR" sz="2000" spc="300" dirty="0"/>
              <a:t>INSPIRATION</a:t>
            </a:r>
          </a:p>
          <a:p>
            <a:endParaRPr lang="fr-FR" sz="2000" spc="300" dirty="0"/>
          </a:p>
          <a:p>
            <a:r>
              <a:rPr lang="fr-FR" sz="2000" dirty="0"/>
              <a:t>Le design du site s’inspire des interfaces modernes observées sur </a:t>
            </a:r>
            <a:r>
              <a:rPr lang="fr-FR" sz="2400" dirty="0">
                <a:solidFill>
                  <a:srgbClr val="92D050"/>
                </a:solidFill>
              </a:rPr>
              <a:t>Awwwards</a:t>
            </a:r>
            <a:r>
              <a:rPr lang="fr-FR" sz="2000" dirty="0"/>
              <a:t> et</a:t>
            </a:r>
            <a:r>
              <a:rPr lang="fr-FR" sz="2400" dirty="0">
                <a:solidFill>
                  <a:srgbClr val="92D050"/>
                </a:solidFill>
              </a:rPr>
              <a:t> Dribbble</a:t>
            </a:r>
            <a:r>
              <a:rPr lang="fr-FR" sz="2000" dirty="0"/>
              <a:t>, ainsi que d’une palette de couleurs créée avec </a:t>
            </a:r>
            <a:r>
              <a:rPr lang="fr-FR" sz="2400" dirty="0">
                <a:solidFill>
                  <a:srgbClr val="92D050"/>
                </a:solidFill>
              </a:rPr>
              <a:t>Coolors</a:t>
            </a:r>
            <a:r>
              <a:rPr lang="fr-FR" sz="2000" dirty="0"/>
              <a:t>. Mon objectif était de concevoir une interface à la fois simple, moderne et agréable à utiliser.</a:t>
            </a:r>
          </a:p>
          <a:p>
            <a:r>
              <a:rPr lang="fr-FR" sz="2000" dirty="0"/>
              <a:t> Les différentes nuances de vert rappellent la nature, l’espoir, la croissance et le potentiel de l’Afrique, tandis que la mise en page épurée facilite la navigation et met en valeur les talents africains.</a:t>
            </a:r>
          </a:p>
          <a:p>
            <a:r>
              <a:rPr lang="fr-FR" sz="2000" dirty="0"/>
              <a:t> Ce choix de design permet de créer une identité visuelle professionnelle tout en restant proche des valeurs du projet AfriTalent.</a:t>
            </a:r>
          </a:p>
        </p:txBody>
      </p:sp>
    </p:spTree>
    <p:extLst>
      <p:ext uri="{BB962C8B-B14F-4D97-AF65-F5344CB8AC3E}">
        <p14:creationId xmlns:p14="http://schemas.microsoft.com/office/powerpoint/2010/main" val="368615497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D82590-0B66-FA72-8E2C-0BE308A581E5}"/>
              </a:ext>
            </a:extLst>
          </p:cNvPr>
          <p:cNvSpPr>
            <a:spLocks noGrp="1"/>
          </p:cNvSpPr>
          <p:nvPr>
            <p:ph type="title"/>
          </p:nvPr>
        </p:nvSpPr>
        <p:spPr>
          <a:xfrm>
            <a:off x="677334" y="282539"/>
            <a:ext cx="3854528" cy="1669551"/>
          </a:xfrm>
        </p:spPr>
        <p:txBody>
          <a:bodyPr>
            <a:noAutofit/>
          </a:bodyPr>
          <a:lstStyle/>
          <a:p>
            <a:pPr algn="ctr"/>
            <a:r>
              <a:rPr lang="fr-FR" dirty="0">
                <a:solidFill>
                  <a:schemeClr val="tx1"/>
                </a:solidFill>
                <a:latin typeface="Arial Rounded MT Bold" panose="020F0704030504030204" pitchFamily="34" charset="0"/>
              </a:rPr>
              <a:t>L’architecture du site est pensée pour offrir une navigation fluide, avec des pages bien organisées et facilement accessibles.</a:t>
            </a:r>
          </a:p>
        </p:txBody>
      </p:sp>
      <p:sp>
        <p:nvSpPr>
          <p:cNvPr id="4" name="Espace réservé du texte 3">
            <a:extLst>
              <a:ext uri="{FF2B5EF4-FFF2-40B4-BE49-F238E27FC236}">
                <a16:creationId xmlns:a16="http://schemas.microsoft.com/office/drawing/2014/main" id="{50058475-010F-40FA-7D7F-87D835C54E45}"/>
              </a:ext>
            </a:extLst>
          </p:cNvPr>
          <p:cNvSpPr>
            <a:spLocks noGrp="1"/>
          </p:cNvSpPr>
          <p:nvPr>
            <p:ph type="body" sz="half" idx="2"/>
          </p:nvPr>
        </p:nvSpPr>
        <p:spPr>
          <a:xfrm>
            <a:off x="677334" y="2250041"/>
            <a:ext cx="3854528" cy="4325420"/>
          </a:xfrm>
        </p:spPr>
        <p:txBody>
          <a:bodyPr>
            <a:normAutofit fontScale="40000" lnSpcReduction="20000"/>
          </a:bodyPr>
          <a:lstStyle/>
          <a:p>
            <a:r>
              <a:rPr lang="fr-FR" sz="3200" dirty="0"/>
              <a:t>sakho_ndyekaty_AfriTalent</a:t>
            </a:r>
          </a:p>
          <a:p>
            <a:r>
              <a:rPr lang="fr-FR" sz="3200" dirty="0"/>
              <a:t>├── css</a:t>
            </a:r>
          </a:p>
          <a:p>
            <a:r>
              <a:rPr lang="fr-FR" sz="3200" dirty="0"/>
              <a:t>│   └── style.css</a:t>
            </a:r>
          </a:p>
          <a:p>
            <a:r>
              <a:rPr lang="fr-FR" sz="3200" dirty="0"/>
              <a:t>├── js</a:t>
            </a:r>
          </a:p>
          <a:p>
            <a:r>
              <a:rPr lang="fr-FR" sz="3200" dirty="0"/>
              <a:t>│   └── main.js</a:t>
            </a:r>
          </a:p>
          <a:p>
            <a:r>
              <a:rPr lang="fr-FR" sz="3200" dirty="0"/>
              <a:t>├ docs</a:t>
            </a:r>
          </a:p>
          <a:p>
            <a:r>
              <a:rPr lang="fr-FR" sz="3200" dirty="0"/>
              <a:t>│   └── sakho_ ndeyekaty_Presentation.pptx</a:t>
            </a:r>
          </a:p>
          <a:p>
            <a:r>
              <a:rPr lang="fr-FR" sz="3200" dirty="0"/>
              <a:t>├── .gitignore</a:t>
            </a:r>
          </a:p>
          <a:p>
            <a:r>
              <a:rPr lang="fr-FR" sz="3200" dirty="0"/>
              <a:t>├── index.html</a:t>
            </a:r>
          </a:p>
          <a:p>
            <a:r>
              <a:rPr lang="fr-FR" sz="3200" dirty="0"/>
              <a:t>├── about.html</a:t>
            </a:r>
          </a:p>
          <a:p>
            <a:r>
              <a:rPr lang="fr-FR" sz="3200" dirty="0"/>
              <a:t>├── contact.html</a:t>
            </a:r>
          </a:p>
          <a:p>
            <a:r>
              <a:rPr lang="fr-FR" sz="3200" dirty="0"/>
              <a:t>├── freelance.html</a:t>
            </a:r>
          </a:p>
          <a:p>
            <a:r>
              <a:rPr lang="fr-FR" sz="3200" dirty="0"/>
              <a:t>├── tarif.html</a:t>
            </a:r>
          </a:p>
          <a:p>
            <a:r>
              <a:rPr lang="fr-FR" sz="3200" dirty="0"/>
              <a:t>└── README.md</a:t>
            </a:r>
          </a:p>
        </p:txBody>
      </p:sp>
      <p:pic>
        <p:nvPicPr>
          <p:cNvPr id="17" name="Espace réservé du contenu 16">
            <a:extLst>
              <a:ext uri="{FF2B5EF4-FFF2-40B4-BE49-F238E27FC236}">
                <a16:creationId xmlns:a16="http://schemas.microsoft.com/office/drawing/2014/main" id="{A5A77A16-11EB-085F-666C-1264983895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67536" y="1623317"/>
            <a:ext cx="4025094" cy="3113070"/>
          </a:xfrm>
        </p:spPr>
      </p:pic>
    </p:spTree>
    <p:extLst>
      <p:ext uri="{BB962C8B-B14F-4D97-AF65-F5344CB8AC3E}">
        <p14:creationId xmlns:p14="http://schemas.microsoft.com/office/powerpoint/2010/main" val="17181304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13B825-30AA-16AA-F69C-D0A320794AC3}"/>
              </a:ext>
            </a:extLst>
          </p:cNvPr>
          <p:cNvSpPr>
            <a:spLocks noGrp="1"/>
          </p:cNvSpPr>
          <p:nvPr>
            <p:ph type="title"/>
          </p:nvPr>
        </p:nvSpPr>
        <p:spPr>
          <a:xfrm>
            <a:off x="4520628" y="609600"/>
            <a:ext cx="339767" cy="45719"/>
          </a:xfrm>
        </p:spPr>
        <p:txBody>
          <a:bodyPr>
            <a:normAutofit fontScale="90000"/>
          </a:bodyPr>
          <a:lstStyle/>
          <a:p>
            <a:r>
              <a:rPr lang="fr-FR" dirty="0"/>
              <a:t>c</a:t>
            </a:r>
          </a:p>
        </p:txBody>
      </p:sp>
      <p:pic>
        <p:nvPicPr>
          <p:cNvPr id="13" name="Espace réservé du contenu 12">
            <a:extLst>
              <a:ext uri="{FF2B5EF4-FFF2-40B4-BE49-F238E27FC236}">
                <a16:creationId xmlns:a16="http://schemas.microsoft.com/office/drawing/2014/main" id="{9E247CCD-EFCE-4461-2FCF-D4FFC913117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25161" y="3195944"/>
            <a:ext cx="3935234" cy="2393880"/>
          </a:xfrm>
        </p:spPr>
      </p:pic>
      <p:pic>
        <p:nvPicPr>
          <p:cNvPr id="11" name="Espace réservé du contenu 5">
            <a:extLst>
              <a:ext uri="{FF2B5EF4-FFF2-40B4-BE49-F238E27FC236}">
                <a16:creationId xmlns:a16="http://schemas.microsoft.com/office/drawing/2014/main" id="{A58BC608-3646-55D2-F1ED-1A4107F6A2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652" y="664914"/>
            <a:ext cx="4183062" cy="1800203"/>
          </a:xfrm>
          <a:prstGeom prst="rect">
            <a:avLst/>
          </a:prstGeom>
        </p:spPr>
      </p:pic>
      <p:pic>
        <p:nvPicPr>
          <p:cNvPr id="18" name="Espace réservé du contenu 17">
            <a:extLst>
              <a:ext uri="{FF2B5EF4-FFF2-40B4-BE49-F238E27FC236}">
                <a16:creationId xmlns:a16="http://schemas.microsoft.com/office/drawing/2014/main" id="{76B5C4E7-9B16-A4E6-0006-5444004E7874}"/>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5345876" y="3962913"/>
            <a:ext cx="3971461" cy="2239768"/>
          </a:xfrm>
        </p:spPr>
      </p:pic>
      <p:pic>
        <p:nvPicPr>
          <p:cNvPr id="16" name="Espace réservé du contenu 7">
            <a:extLst>
              <a:ext uri="{FF2B5EF4-FFF2-40B4-BE49-F238E27FC236}">
                <a16:creationId xmlns:a16="http://schemas.microsoft.com/office/drawing/2014/main" id="{9CEEE401-0323-B8CB-C954-A9048734C2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86591" y="1052577"/>
            <a:ext cx="4184650" cy="2376423"/>
          </a:xfrm>
          <a:prstGeom prst="rect">
            <a:avLst/>
          </a:prstGeom>
        </p:spPr>
      </p:pic>
    </p:spTree>
    <p:extLst>
      <p:ext uri="{BB962C8B-B14F-4D97-AF65-F5344CB8AC3E}">
        <p14:creationId xmlns:p14="http://schemas.microsoft.com/office/powerpoint/2010/main" val="24877069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E4F320D-166E-22EB-36AA-440736BE55A8}"/>
              </a:ext>
            </a:extLst>
          </p:cNvPr>
          <p:cNvSpPr txBox="1"/>
          <p:nvPr/>
        </p:nvSpPr>
        <p:spPr>
          <a:xfrm>
            <a:off x="1356189" y="174662"/>
            <a:ext cx="7791235" cy="6463308"/>
          </a:xfrm>
          <a:prstGeom prst="rect">
            <a:avLst/>
          </a:prstGeom>
          <a:noFill/>
        </p:spPr>
        <p:txBody>
          <a:bodyPr wrap="square">
            <a:spAutoFit/>
          </a:bodyPr>
          <a:lstStyle/>
          <a:p>
            <a:pPr algn="ctr"/>
            <a:r>
              <a:rPr lang="fr-FR" sz="2400" dirty="0">
                <a:latin typeface="Arial Rounded MT Bold" panose="020F0704030504030204" pitchFamily="34" charset="0"/>
              </a:rPr>
              <a:t>Points techniques</a:t>
            </a:r>
          </a:p>
          <a:p>
            <a:endParaRPr lang="fr-FR" dirty="0"/>
          </a:p>
          <a:p>
            <a:pPr marL="285750" indent="-285750">
              <a:buFont typeface="Wingdings" panose="05000000000000000000" pitchFamily="2" charset="2"/>
              <a:buChar char="Ø"/>
            </a:pPr>
            <a:r>
              <a:rPr lang="fr-FR" sz="2400" b="1" dirty="0">
                <a:latin typeface="Arial Rounded MT Bold" panose="020F0704030504030204" pitchFamily="34" charset="0"/>
              </a:rPr>
              <a:t>JavaScript</a:t>
            </a:r>
          </a:p>
          <a:p>
            <a:r>
              <a:rPr lang="fr-FR" dirty="0">
                <a:latin typeface="Arial Rounded MT Bold" panose="020F0704030504030204" pitchFamily="34" charset="0"/>
              </a:rPr>
              <a:t>Le JavaScript permet d’ajouter de l’interactivité au site :</a:t>
            </a:r>
          </a:p>
          <a:p>
            <a:pPr marL="285750" indent="-285750">
              <a:buFont typeface="Wingdings" panose="05000000000000000000" pitchFamily="2" charset="2"/>
              <a:buChar char="v"/>
            </a:pPr>
            <a:r>
              <a:rPr lang="fr-FR" dirty="0">
                <a:latin typeface="Arial Rounded MT Bold" panose="020F0704030504030204" pitchFamily="34" charset="0"/>
              </a:rPr>
              <a:t>Mode sombre : utilisation de classList pour ajouter ou retirer la classe dark-mode et de localStorage pour sauvegarder le thème choisi.</a:t>
            </a:r>
          </a:p>
          <a:p>
            <a:pPr marL="285750" indent="-285750">
              <a:buFont typeface="Wingdings" panose="05000000000000000000" pitchFamily="2" charset="2"/>
              <a:buChar char="v"/>
            </a:pPr>
            <a:r>
              <a:rPr lang="fr-FR" dirty="0">
                <a:latin typeface="Arial Rounded MT Bold" panose="020F0704030504030204" pitchFamily="34" charset="0"/>
              </a:rPr>
              <a:t>IntersectionObserver : </a:t>
            </a:r>
          </a:p>
          <a:p>
            <a:pPr marL="285750" indent="-285750">
              <a:buFont typeface="Wingdings" panose="05000000000000000000" pitchFamily="2" charset="2"/>
              <a:buChar char="v"/>
            </a:pPr>
            <a:r>
              <a:rPr lang="fr-FR" dirty="0">
                <a:latin typeface="Arial Rounded MT Bold" panose="020F0704030504030204" pitchFamily="34" charset="0"/>
              </a:rPr>
              <a:t>une balise JavaScript avancée qui détecte quand un élément apparaît à l’écran pour lancer les animations (compteurs et effet fade).</a:t>
            </a:r>
          </a:p>
          <a:p>
            <a:pPr marL="285750" indent="-285750">
              <a:buFont typeface="Wingdings" panose="05000000000000000000" pitchFamily="2" charset="2"/>
              <a:buChar char="v"/>
            </a:pPr>
            <a:r>
              <a:rPr lang="fr-FR" dirty="0">
                <a:latin typeface="Arial Rounded MT Bold" panose="020F0704030504030204" pitchFamily="34" charset="0"/>
              </a:rPr>
              <a:t> addEventListener : permet de détecter les actions de l’utilisateur comme un clic ou l’envoi d’un formulaire.</a:t>
            </a:r>
          </a:p>
          <a:p>
            <a:pPr marL="285750" indent="-285750">
              <a:buFont typeface="Wingdings" panose="05000000000000000000" pitchFamily="2" charset="2"/>
              <a:buChar char="v"/>
            </a:pPr>
            <a:r>
              <a:rPr lang="fr-FR" dirty="0">
                <a:latin typeface="Arial Rounded MT Bold" panose="020F0704030504030204" pitchFamily="34" charset="0"/>
              </a:rPr>
              <a:t> Validation du formulaire : contrôle des champs avec des conditions (if) et une expression régulière pour vérifier l’email.</a:t>
            </a:r>
          </a:p>
          <a:p>
            <a:pPr marL="285750" indent="-285750">
              <a:buFont typeface="Wingdings" panose="05000000000000000000" pitchFamily="2" charset="2"/>
              <a:buChar char="v"/>
            </a:pPr>
            <a:r>
              <a:rPr lang="fr-FR" dirty="0">
                <a:latin typeface="Arial Rounded MT Bold" panose="020F0704030504030204" pitchFamily="34" charset="0"/>
              </a:rPr>
              <a:t>Filtrage des freelances : utilisation de querySelector pour sélectionner les éléments et modifier leur affichage.</a:t>
            </a:r>
          </a:p>
          <a:p>
            <a:pPr marL="285750" indent="-285750">
              <a:buFont typeface="Wingdings" panose="05000000000000000000" pitchFamily="2" charset="2"/>
              <a:buChar char="Ø"/>
            </a:pPr>
            <a:r>
              <a:rPr lang="fr-FR" sz="2400" dirty="0">
                <a:latin typeface="Arial Rounded MT Bold" panose="020F0704030504030204" pitchFamily="34" charset="0"/>
              </a:rPr>
              <a:t>Bootstrap</a:t>
            </a:r>
          </a:p>
          <a:p>
            <a:pPr marL="285750" indent="-285750">
              <a:buFont typeface="Wingdings" panose="05000000000000000000" pitchFamily="2" charset="2"/>
              <a:buChar char="v"/>
            </a:pPr>
            <a:r>
              <a:rPr lang="fr-FR" dirty="0">
                <a:latin typeface="Arial Rounded MT Bold" panose="020F0704030504030204" pitchFamily="34" charset="0"/>
              </a:rPr>
              <a:t>Bootstrap aide à créer un design responsive rapidement :</a:t>
            </a:r>
          </a:p>
          <a:p>
            <a:pPr marL="285750" indent="-285750">
              <a:buFont typeface="Wingdings" panose="05000000000000000000" pitchFamily="2" charset="2"/>
              <a:buChar char="v"/>
            </a:pPr>
            <a:r>
              <a:rPr lang="fr-FR" dirty="0">
                <a:latin typeface="Arial Rounded MT Bold" panose="020F0704030504030204" pitchFamily="34" charset="0"/>
              </a:rPr>
              <a:t>Navbar : barre de navigation adaptable aux écrans.</a:t>
            </a:r>
          </a:p>
          <a:p>
            <a:pPr marL="285750" indent="-285750">
              <a:buFont typeface="Wingdings" panose="05000000000000000000" pitchFamily="2" charset="2"/>
              <a:buChar char="v"/>
            </a:pPr>
            <a:r>
              <a:rPr lang="fr-FR" dirty="0">
                <a:latin typeface="Arial Rounded MT Bold" panose="020F0704030504030204" pitchFamily="34" charset="0"/>
              </a:rPr>
              <a:t> Card : composant utilisé pour afficher les profils, services et tarifsaméliorer l’interface.</a:t>
            </a:r>
          </a:p>
        </p:txBody>
      </p:sp>
    </p:spTree>
    <p:extLst>
      <p:ext uri="{BB962C8B-B14F-4D97-AF65-F5344CB8AC3E}">
        <p14:creationId xmlns:p14="http://schemas.microsoft.com/office/powerpoint/2010/main" val="58357133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0DDCCDE-E830-65AB-DD32-2B0807B5C6E1}"/>
              </a:ext>
            </a:extLst>
          </p:cNvPr>
          <p:cNvSpPr txBox="1"/>
          <p:nvPr/>
        </p:nvSpPr>
        <p:spPr>
          <a:xfrm>
            <a:off x="688369" y="647272"/>
            <a:ext cx="8465904" cy="5386090"/>
          </a:xfrm>
          <a:prstGeom prst="rect">
            <a:avLst/>
          </a:prstGeom>
          <a:noFill/>
        </p:spPr>
        <p:txBody>
          <a:bodyPr wrap="square">
            <a:spAutoFit/>
          </a:bodyPr>
          <a:lstStyle/>
          <a:p>
            <a:pPr marL="285750" indent="-285750">
              <a:buFont typeface="Wingdings" panose="05000000000000000000" pitchFamily="2" charset="2"/>
              <a:buChar char="v"/>
            </a:pPr>
            <a:r>
              <a:rPr lang="fr-FR" sz="2000" dirty="0">
                <a:latin typeface="Arial Rounded MT Bold" panose="020F0704030504030204" pitchFamily="34" charset="0"/>
              </a:rPr>
              <a:t>Container / Row / Col : système de grille qui organise les éléments en colonnes.</a:t>
            </a:r>
          </a:p>
          <a:p>
            <a:pPr marL="285750" indent="-285750">
              <a:buFont typeface="Wingdings" panose="05000000000000000000" pitchFamily="2" charset="2"/>
              <a:buChar char="v"/>
            </a:pPr>
            <a:r>
              <a:rPr lang="fr-FR" sz="2000" dirty="0">
                <a:latin typeface="Arial Rounded MT Bold" panose="020F0704030504030204" pitchFamily="34" charset="0"/>
              </a:rPr>
              <a:t> </a:t>
            </a:r>
            <a:r>
              <a:rPr lang="fr-FR" sz="2000" dirty="0" err="1">
                <a:latin typeface="Arial Rounded MT Bold" panose="020F0704030504030204" pitchFamily="34" charset="0"/>
              </a:rPr>
              <a:t>Accordion</a:t>
            </a:r>
            <a:r>
              <a:rPr lang="fr-FR" sz="2000" dirty="0">
                <a:latin typeface="Arial Rounded MT Bold" panose="020F0704030504030204" pitchFamily="34" charset="0"/>
              </a:rPr>
              <a:t> : permet de créer des blocs déroulants pour la FAQ.</a:t>
            </a:r>
          </a:p>
          <a:p>
            <a:pPr marL="285750" indent="-285750">
              <a:buFont typeface="Wingdings" panose="05000000000000000000" pitchFamily="2" charset="2"/>
              <a:buChar char="v"/>
            </a:pPr>
            <a:r>
              <a:rPr lang="fr-FR" sz="2000" dirty="0">
                <a:latin typeface="Arial Rounded MT Bold" panose="020F0704030504030204" pitchFamily="34" charset="0"/>
              </a:rPr>
              <a:t> Icons Bootstrap : ajout d’icônes pour améliorer l’interface.</a:t>
            </a:r>
          </a:p>
          <a:p>
            <a:pPr marL="285750" indent="-285750">
              <a:buFont typeface="Wingdings" panose="05000000000000000000" pitchFamily="2" charset="2"/>
              <a:buChar char="Ø"/>
            </a:pPr>
            <a:r>
              <a:rPr lang="fr-FR" sz="2400" dirty="0">
                <a:latin typeface="Arial Rounded MT Bold" panose="020F0704030504030204" pitchFamily="34" charset="0"/>
              </a:rPr>
              <a:t>CSS avancé</a:t>
            </a:r>
          </a:p>
          <a:p>
            <a:r>
              <a:rPr lang="fr-FR" sz="2000" dirty="0">
                <a:latin typeface="Arial Rounded MT Bold" panose="020F0704030504030204" pitchFamily="34" charset="0"/>
              </a:rPr>
              <a:t>Le CSS personnalise le design du site :</a:t>
            </a:r>
          </a:p>
          <a:p>
            <a:pPr marL="285750" indent="-285750">
              <a:buFont typeface="Wingdings" panose="05000000000000000000" pitchFamily="2" charset="2"/>
              <a:buChar char="v"/>
            </a:pPr>
            <a:r>
              <a:rPr lang="fr-FR" sz="2000" dirty="0">
                <a:latin typeface="Arial Rounded MT Bold" panose="020F0704030504030204" pitchFamily="34" charset="0"/>
              </a:rPr>
              <a:t> :root : permet de créer des variables de couleurs et de styles réutilisables.</a:t>
            </a:r>
          </a:p>
          <a:p>
            <a:pPr marL="285750" indent="-285750">
              <a:buFont typeface="Wingdings" panose="05000000000000000000" pitchFamily="2" charset="2"/>
              <a:buChar char="v"/>
            </a:pPr>
            <a:r>
              <a:rPr lang="fr-FR" sz="2000" dirty="0">
                <a:latin typeface="Arial Rounded MT Bold" panose="020F0704030504030204" pitchFamily="34" charset="0"/>
              </a:rPr>
              <a:t>Flexbox et Grid : organisent les éléments de manière flexible.</a:t>
            </a:r>
          </a:p>
          <a:p>
            <a:pPr marL="285750" indent="-285750">
              <a:buFont typeface="Wingdings" panose="05000000000000000000" pitchFamily="2" charset="2"/>
              <a:buChar char="v"/>
            </a:pPr>
            <a:r>
              <a:rPr lang="fr-FR" sz="2000" dirty="0">
                <a:latin typeface="Arial Rounded MT Bold" panose="020F0704030504030204" pitchFamily="34" charset="0"/>
              </a:rPr>
              <a:t> @media : adapte le site aux téléphones, tablettes et ordinateurs.</a:t>
            </a:r>
          </a:p>
          <a:p>
            <a:pPr marL="285750" indent="-285750">
              <a:buFont typeface="Wingdings" panose="05000000000000000000" pitchFamily="2" charset="2"/>
              <a:buChar char="v"/>
            </a:pPr>
            <a:r>
              <a:rPr lang="fr-FR" sz="2000" dirty="0">
                <a:latin typeface="Arial Rounded MT Bold" panose="020F0704030504030204" pitchFamily="34" charset="0"/>
              </a:rPr>
              <a:t>transition et transform : créent des animations comme les effets de survol.</a:t>
            </a:r>
          </a:p>
          <a:p>
            <a:pPr marL="285750" indent="-285750">
              <a:buFont typeface="Wingdings" panose="05000000000000000000" pitchFamily="2" charset="2"/>
              <a:buChar char="v"/>
            </a:pPr>
            <a:r>
              <a:rPr lang="fr-FR" sz="2000" dirty="0">
                <a:latin typeface="Arial Rounded MT Bold" panose="020F0704030504030204" pitchFamily="34" charset="0"/>
              </a:rPr>
              <a:t>dark-mode : change automatiquement l’apparence du site en thème sombre.</a:t>
            </a:r>
          </a:p>
          <a:p>
            <a:pPr marL="285750" indent="-285750">
              <a:buFont typeface="Arial" panose="020B0604020202020204" pitchFamily="34" charset="0"/>
              <a:buChar char="•"/>
            </a:pPr>
            <a:r>
              <a:rPr lang="fr-FR" sz="2000" u="sng" dirty="0">
                <a:latin typeface="Arial Rounded MT Bold" panose="020F0704030504030204" pitchFamily="34" charset="0"/>
              </a:rPr>
              <a:t>Conclusion :</a:t>
            </a:r>
          </a:p>
          <a:p>
            <a:pPr marL="285750" indent="-285750">
              <a:buFont typeface="Arial" panose="020B0604020202020204" pitchFamily="34" charset="0"/>
              <a:buChar char="•"/>
            </a:pPr>
            <a:r>
              <a:rPr lang="fr-FR" sz="2000" dirty="0">
                <a:latin typeface="Arial Rounded MT Bold" panose="020F0704030504030204" pitchFamily="34" charset="0"/>
              </a:rPr>
              <a:t>L’utilisation du JavaScript, Bootstrap et du CSS avancé permet d’avoir un site moderne, responsive et interactif.</a:t>
            </a:r>
          </a:p>
        </p:txBody>
      </p:sp>
    </p:spTree>
    <p:extLst>
      <p:ext uri="{BB962C8B-B14F-4D97-AF65-F5344CB8AC3E}">
        <p14:creationId xmlns:p14="http://schemas.microsoft.com/office/powerpoint/2010/main" val="152371503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49C7B4-63EF-025B-1870-A238478B50DE}"/>
              </a:ext>
            </a:extLst>
          </p:cNvPr>
          <p:cNvSpPr>
            <a:spLocks noGrp="1"/>
          </p:cNvSpPr>
          <p:nvPr>
            <p:ph type="title"/>
          </p:nvPr>
        </p:nvSpPr>
        <p:spPr>
          <a:xfrm>
            <a:off x="333057" y="397042"/>
            <a:ext cx="4744269" cy="2380027"/>
          </a:xfrm>
        </p:spPr>
        <p:txBody>
          <a:bodyPr>
            <a:normAutofit fontScale="90000"/>
          </a:bodyPr>
          <a:lstStyle/>
          <a:p>
            <a:pPr algn="ctr"/>
            <a:r>
              <a:rPr lang="fr-FR" sz="2400" dirty="0">
                <a:solidFill>
                  <a:schemeClr val="tx1"/>
                </a:solidFill>
                <a:latin typeface="Arial Rounded MT Bold" panose="020F0704030504030204" pitchFamily="34" charset="0"/>
              </a:rPr>
              <a:t>Gestion du projet avec Git et GitHub</a:t>
            </a:r>
            <a:br>
              <a:rPr lang="fr-FR" dirty="0">
                <a:solidFill>
                  <a:schemeClr val="tx1"/>
                </a:solidFill>
                <a:latin typeface="Arial Rounded MT Bold" panose="020F0704030504030204" pitchFamily="34" charset="0"/>
              </a:rPr>
            </a:br>
            <a:br>
              <a:rPr lang="fr-FR" dirty="0">
                <a:solidFill>
                  <a:schemeClr val="tx1"/>
                </a:solidFill>
                <a:latin typeface="Arial Rounded MT Bold" panose="020F0704030504030204" pitchFamily="34" charset="0"/>
              </a:rPr>
            </a:br>
            <a:r>
              <a:rPr lang="fr-FR" dirty="0">
                <a:solidFill>
                  <a:schemeClr val="tx1"/>
                </a:solidFill>
                <a:latin typeface="Arial Rounded MT Bold" panose="020F0704030504030204" pitchFamily="34" charset="0"/>
              </a:rPr>
              <a:t>Pour développer et gérer mon projet, j’ai utilisé Git et GitHub, ce qui m’a permis de suivre l’évolution du site et de sauvegarder régulièrement mon travail.</a:t>
            </a:r>
          </a:p>
        </p:txBody>
      </p:sp>
      <p:pic>
        <p:nvPicPr>
          <p:cNvPr id="6" name="Espace réservé du contenu 5">
            <a:extLst>
              <a:ext uri="{FF2B5EF4-FFF2-40B4-BE49-F238E27FC236}">
                <a16:creationId xmlns:a16="http://schemas.microsoft.com/office/drawing/2014/main" id="{4733D5F5-EB33-2719-CAE6-E9B485F00E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69986" y="1157256"/>
            <a:ext cx="4513262" cy="4042611"/>
          </a:xfrm>
        </p:spPr>
      </p:pic>
      <p:sp>
        <p:nvSpPr>
          <p:cNvPr id="4" name="Espace réservé du texte 3">
            <a:extLst>
              <a:ext uri="{FF2B5EF4-FFF2-40B4-BE49-F238E27FC236}">
                <a16:creationId xmlns:a16="http://schemas.microsoft.com/office/drawing/2014/main" id="{73B39217-7844-F420-F853-F33C72015B19}"/>
              </a:ext>
            </a:extLst>
          </p:cNvPr>
          <p:cNvSpPr>
            <a:spLocks noGrp="1"/>
          </p:cNvSpPr>
          <p:nvPr>
            <p:ph type="body" sz="half" idx="2"/>
          </p:nvPr>
        </p:nvSpPr>
        <p:spPr>
          <a:xfrm>
            <a:off x="581488" y="3178561"/>
            <a:ext cx="3854528" cy="3022152"/>
          </a:xfrm>
        </p:spPr>
        <p:txBody>
          <a:bodyPr>
            <a:normAutofit fontScale="85000" lnSpcReduction="20000"/>
          </a:bodyPr>
          <a:lstStyle/>
          <a:p>
            <a:pPr algn="ctr"/>
            <a:r>
              <a:rPr lang="fr-FR" sz="1600" dirty="0">
                <a:solidFill>
                  <a:schemeClr val="tx1"/>
                </a:solidFill>
                <a:latin typeface="Arial Rounded MT Bold" panose="020F0704030504030204" pitchFamily="34" charset="0"/>
              </a:rPr>
              <a:t>Workflow Git</a:t>
            </a:r>
            <a:br>
              <a:rPr lang="fr-FR" sz="1600" dirty="0">
                <a:solidFill>
                  <a:schemeClr val="tx1"/>
                </a:solidFill>
                <a:latin typeface="Arial Rounded MT Bold" panose="020F0704030504030204" pitchFamily="34" charset="0"/>
              </a:rPr>
            </a:br>
            <a:r>
              <a:rPr lang="fr-FR" sz="1600" dirty="0">
                <a:solidFill>
                  <a:schemeClr val="tx1"/>
                </a:solidFill>
                <a:latin typeface="Arial Rounded MT Bold" panose="020F0704030504030204" pitchFamily="34" charset="0"/>
              </a:rPr>
              <a:t>Les principales étapes que j’ai suivies sont :</a:t>
            </a:r>
            <a:br>
              <a:rPr lang="fr-FR" sz="1600" dirty="0">
                <a:solidFill>
                  <a:schemeClr val="tx1"/>
                </a:solidFill>
                <a:latin typeface="Arial Rounded MT Bold" panose="020F0704030504030204" pitchFamily="34" charset="0"/>
              </a:rPr>
            </a:br>
            <a:r>
              <a:rPr lang="fr-FR" sz="1600" dirty="0">
                <a:solidFill>
                  <a:schemeClr val="tx1"/>
                </a:solidFill>
                <a:latin typeface="Arial Rounded MT Bold" panose="020F0704030504030204" pitchFamily="34" charset="0"/>
              </a:rPr>
              <a:t>1. Modification des fichiers du projet.</a:t>
            </a:r>
            <a:br>
              <a:rPr lang="fr-FR" sz="1600" dirty="0">
                <a:solidFill>
                  <a:schemeClr val="tx1"/>
                </a:solidFill>
                <a:latin typeface="Arial Rounded MT Bold" panose="020F0704030504030204" pitchFamily="34" charset="0"/>
              </a:rPr>
            </a:br>
            <a:r>
              <a:rPr lang="fr-FR" sz="1600" dirty="0">
                <a:solidFill>
                  <a:schemeClr val="tx1"/>
                </a:solidFill>
                <a:latin typeface="Arial Rounded MT Bold" panose="020F0704030504030204" pitchFamily="34" charset="0"/>
              </a:rPr>
              <a:t>2. Ajout des fichiers avec </a:t>
            </a:r>
            <a:r>
              <a:rPr lang="fr-FR" sz="1600" dirty="0">
                <a:solidFill>
                  <a:schemeClr val="accent1"/>
                </a:solidFill>
                <a:latin typeface="Arial Rounded MT Bold" panose="020F0704030504030204" pitchFamily="34" charset="0"/>
              </a:rPr>
              <a:t>git add.</a:t>
            </a:r>
            <a:br>
              <a:rPr lang="fr-FR" sz="1600" dirty="0">
                <a:solidFill>
                  <a:schemeClr val="tx1"/>
                </a:solidFill>
                <a:latin typeface="Arial Rounded MT Bold" panose="020F0704030504030204" pitchFamily="34" charset="0"/>
              </a:rPr>
            </a:br>
            <a:r>
              <a:rPr lang="fr-FR" sz="1600" dirty="0">
                <a:solidFill>
                  <a:schemeClr val="tx1"/>
                </a:solidFill>
                <a:latin typeface="Arial Rounded MT Bold" panose="020F0704030504030204" pitchFamily="34" charset="0"/>
              </a:rPr>
              <a:t>3. Création d’un commit avec un message décrivant les modifications </a:t>
            </a:r>
            <a:r>
              <a:rPr lang="fr-FR" sz="1600" dirty="0">
                <a:solidFill>
                  <a:schemeClr val="accent1"/>
                </a:solidFill>
                <a:latin typeface="Arial Rounded MT Bold" panose="020F0704030504030204" pitchFamily="34" charset="0"/>
              </a:rPr>
              <a:t>(git commit).</a:t>
            </a:r>
            <a:br>
              <a:rPr lang="fr-FR" sz="1600" dirty="0">
                <a:solidFill>
                  <a:schemeClr val="tx1"/>
                </a:solidFill>
                <a:latin typeface="Arial Rounded MT Bold" panose="020F0704030504030204" pitchFamily="34" charset="0"/>
              </a:rPr>
            </a:br>
            <a:r>
              <a:rPr lang="fr-FR" sz="1600" dirty="0">
                <a:solidFill>
                  <a:schemeClr val="tx1"/>
                </a:solidFill>
                <a:latin typeface="Arial Rounded MT Bold" panose="020F0704030504030204" pitchFamily="34" charset="0"/>
              </a:rPr>
              <a:t>4. Envoi des changements sur GitHub avec </a:t>
            </a:r>
            <a:r>
              <a:rPr lang="fr-FR" sz="1600" dirty="0">
                <a:solidFill>
                  <a:schemeClr val="accent1"/>
                </a:solidFill>
                <a:latin typeface="Arial Rounded MT Bold" panose="020F0704030504030204" pitchFamily="34" charset="0"/>
              </a:rPr>
              <a:t>git push.</a:t>
            </a:r>
          </a:p>
          <a:p>
            <a:pPr algn="ctr"/>
            <a:r>
              <a:rPr lang="fr-FR" sz="1600" dirty="0">
                <a:solidFill>
                  <a:schemeClr val="accent1"/>
                </a:solidFill>
                <a:latin typeface="Arial Rounded MT Bold" panose="020F0704030504030204" pitchFamily="34" charset="0"/>
              </a:rPr>
              <a:t>Voici le lien de mon </a:t>
            </a:r>
            <a:r>
              <a:rPr lang="fr-FR" sz="2600" dirty="0" err="1">
                <a:solidFill>
                  <a:schemeClr val="accent1"/>
                </a:solidFill>
                <a:latin typeface="Arial Rounded MT Bold" panose="020F0704030504030204" pitchFamily="34" charset="0"/>
              </a:rPr>
              <a:t>site:</a:t>
            </a:r>
            <a:r>
              <a:rPr lang="fr-FR" sz="2600" b="1" u="sng" dirty="0" err="1">
                <a:hlinkClick r:id="rId3"/>
              </a:rPr>
              <a:t>https</a:t>
            </a:r>
            <a:r>
              <a:rPr lang="fr-FR" sz="2600" b="1" u="sng" dirty="0">
                <a:hlinkClick r:id="rId3"/>
              </a:rPr>
              <a:t>://ndeyekatysakho.github.io/</a:t>
            </a:r>
            <a:r>
              <a:rPr lang="fr-FR" sz="2600" b="1" u="sng" dirty="0" err="1">
                <a:hlinkClick r:id="rId3"/>
              </a:rPr>
              <a:t>SAKHO_ndeyekatyAfriTalent</a:t>
            </a:r>
            <a:r>
              <a:rPr lang="fr-FR" b="1" u="sng" dirty="0">
                <a:hlinkClick r:id="rId3"/>
              </a:rPr>
              <a:t>/</a:t>
            </a:r>
            <a:endParaRPr lang="fr-FR" sz="1600" dirty="0">
              <a:solidFill>
                <a:schemeClr val="accent1"/>
              </a:solidFill>
              <a:latin typeface="Arial Rounded MT Bold" panose="020F0704030504030204" pitchFamily="34" charset="0"/>
            </a:endParaRPr>
          </a:p>
        </p:txBody>
      </p:sp>
    </p:spTree>
    <p:extLst>
      <p:ext uri="{BB962C8B-B14F-4D97-AF65-F5344CB8AC3E}">
        <p14:creationId xmlns:p14="http://schemas.microsoft.com/office/powerpoint/2010/main" val="90380703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113791D-7504-2546-AD38-722FCC9CA89F}"/>
              </a:ext>
            </a:extLst>
          </p:cNvPr>
          <p:cNvSpPr txBox="1"/>
          <p:nvPr/>
        </p:nvSpPr>
        <p:spPr>
          <a:xfrm>
            <a:off x="493160" y="181957"/>
            <a:ext cx="8465904" cy="6217087"/>
          </a:xfrm>
          <a:prstGeom prst="rect">
            <a:avLst/>
          </a:prstGeom>
          <a:noFill/>
        </p:spPr>
        <p:txBody>
          <a:bodyPr wrap="square">
            <a:spAutoFit/>
          </a:bodyPr>
          <a:lstStyle/>
          <a:p>
            <a:pPr algn="ctr"/>
            <a:r>
              <a:rPr lang="fr-FR" sz="2800" b="1" dirty="0">
                <a:latin typeface="Arial Rounded MT Bold" panose="020F0704030504030204" pitchFamily="34" charset="0"/>
              </a:rPr>
              <a:t>Difficultés rencontrées et solutions </a:t>
            </a:r>
          </a:p>
          <a:p>
            <a:pPr algn="ctr"/>
            <a:endParaRPr lang="fr-FR" sz="2800" b="1" dirty="0">
              <a:latin typeface="Arial Rounded MT Bold" panose="020F0704030504030204" pitchFamily="34" charset="0"/>
            </a:endParaRPr>
          </a:p>
          <a:p>
            <a:pPr marL="342900" indent="-342900">
              <a:buAutoNum type="arabicPeriod"/>
            </a:pPr>
            <a:endParaRPr lang="fr-FR" dirty="0"/>
          </a:p>
          <a:p>
            <a:pPr marL="285750" indent="-285750">
              <a:buFont typeface="Wingdings" panose="05000000000000000000" pitchFamily="2" charset="2"/>
              <a:buChar char="Ø"/>
            </a:pPr>
            <a:r>
              <a:rPr lang="fr-FR" dirty="0"/>
              <a:t> Difficulté avec le filtrage en JavaScript</a:t>
            </a:r>
          </a:p>
          <a:p>
            <a:pPr marL="285750" indent="-285750">
              <a:buFont typeface="Wingdings" panose="05000000000000000000" pitchFamily="2" charset="2"/>
              <a:buChar char="v"/>
            </a:pPr>
            <a:r>
              <a:rPr lang="fr-FR" dirty="0"/>
              <a:t>Difficulté :J’ai eu des difficultés à faire fonctionner correctement le système de filtrage, car les éléments ne s’affichaient pas toujours selon la catégorie choisie.</a:t>
            </a:r>
          </a:p>
          <a:p>
            <a:pPr marL="285750" indent="-285750">
              <a:buFont typeface="Wingdings" panose="05000000000000000000" pitchFamily="2" charset="2"/>
              <a:buChar char="v"/>
            </a:pPr>
            <a:r>
              <a:rPr lang="fr-FR" dirty="0"/>
              <a:t> Solution :J’ai ajouté une logique en JavaScript avec un bloc de gestion sur les différents containers afin de contrôler l’affichage des éléments. Cela m’a permis de masquer ou afficher les bons contenus selon le filtre sélectionné</a:t>
            </a:r>
          </a:p>
          <a:p>
            <a:pPr marL="285750" indent="-285750">
              <a:buFont typeface="Wingdings" panose="05000000000000000000" pitchFamily="2" charset="2"/>
              <a:buChar char="Ø"/>
            </a:pPr>
            <a:r>
              <a:rPr lang="fr-FR" dirty="0"/>
              <a:t>Difficulté au niveau de la deuxieme partie de mon index</a:t>
            </a:r>
          </a:p>
          <a:p>
            <a:pPr marL="285750" indent="-285750">
              <a:buFont typeface="Wingdings" panose="05000000000000000000" pitchFamily="2" charset="2"/>
              <a:buChar char="v"/>
            </a:pPr>
            <a:r>
              <a:rPr lang="fr-FR" dirty="0"/>
              <a:t>   La deuxième partie de ma page d’accueil a été l’une des plus difficiles à réaliser. J’ai rencontré des problèmes au niveau de la structure du contenu, de l’organisation des éléments et de leur positionnement. La mise en page ne correspondait pas toujours au résultat attendu.</a:t>
            </a:r>
          </a:p>
          <a:p>
            <a:pPr marL="285750" indent="-285750">
              <a:buFont typeface="Wingdings" panose="05000000000000000000" pitchFamily="2" charset="2"/>
              <a:buChar char="v"/>
            </a:pPr>
            <a:r>
              <a:rPr lang="fr-FR" dirty="0"/>
              <a:t>Solution :</a:t>
            </a:r>
          </a:p>
          <a:p>
            <a:r>
              <a:rPr lang="fr-FR" dirty="0"/>
              <a:t>Pour résoudre ce problème, j’ai restructuré la partie HTML en ajoutant plusieurs div pour mieux organiser les différentes sections et les containers. Ensuite, j’ai effectué plusieurs ajustements en CSS afin de corriger l’alignement, les espacements, les tailles et l’affichage général de la page.</a:t>
            </a:r>
          </a:p>
          <a:p>
            <a:pPr marL="342900" indent="-342900">
              <a:buAutoNum type="arabicPeriod"/>
            </a:pPr>
            <a:endParaRPr lang="fr-FR" dirty="0"/>
          </a:p>
        </p:txBody>
      </p:sp>
    </p:spTree>
    <p:extLst>
      <p:ext uri="{BB962C8B-B14F-4D97-AF65-F5344CB8AC3E}">
        <p14:creationId xmlns:p14="http://schemas.microsoft.com/office/powerpoint/2010/main" val="65066601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7A97056-80D7-5547-2377-3B0D577399B4}"/>
              </a:ext>
            </a:extLst>
          </p:cNvPr>
          <p:cNvSpPr txBox="1"/>
          <p:nvPr/>
        </p:nvSpPr>
        <p:spPr>
          <a:xfrm>
            <a:off x="986319" y="133564"/>
            <a:ext cx="8167954" cy="5724644"/>
          </a:xfrm>
          <a:prstGeom prst="rect">
            <a:avLst/>
          </a:prstGeom>
          <a:noFill/>
        </p:spPr>
        <p:txBody>
          <a:bodyPr wrap="square">
            <a:spAutoFit/>
          </a:bodyPr>
          <a:lstStyle/>
          <a:p>
            <a:pPr algn="ctr"/>
            <a:r>
              <a:rPr lang="fr-FR" dirty="0"/>
              <a:t> </a:t>
            </a:r>
            <a:r>
              <a:rPr lang="fr-FR" sz="2400" dirty="0">
                <a:latin typeface="Arial Rounded MT Bold" panose="020F0704030504030204" pitchFamily="34" charset="0"/>
              </a:rPr>
              <a:t>Ressources et documentation utilisées</a:t>
            </a:r>
          </a:p>
          <a:p>
            <a:endParaRPr lang="fr-FR" dirty="0"/>
          </a:p>
          <a:p>
            <a:pPr algn="ctr"/>
            <a:r>
              <a:rPr lang="fr-FR" dirty="0"/>
              <a:t>Au cours de la réalisation du projet, j’ai utilisé plusieurs ressources pour concevoir, améliorer et vérifier mon site web :</a:t>
            </a:r>
          </a:p>
          <a:p>
            <a:endParaRPr lang="fr-FR" dirty="0"/>
          </a:p>
          <a:p>
            <a:pPr marL="285750" indent="-285750">
              <a:buFont typeface="Wingdings" panose="05000000000000000000" pitchFamily="2" charset="2"/>
              <a:buChar char="v"/>
            </a:pPr>
            <a:r>
              <a:rPr lang="fr-FR" dirty="0"/>
              <a:t> W3C Markup Validation Service : pour valider le code HTML, détecter les erreurs et vérifier sa conformité aux standards du Web.</a:t>
            </a:r>
          </a:p>
          <a:p>
            <a:pPr marL="285750" indent="-285750">
              <a:buFont typeface="Wingdings" panose="05000000000000000000" pitchFamily="2" charset="2"/>
              <a:buChar char="v"/>
            </a:pPr>
            <a:r>
              <a:rPr lang="fr-FR" dirty="0"/>
              <a:t>Coolors : pour créer une palette de couleurs harmonieuse adaptée au design du site.</a:t>
            </a:r>
          </a:p>
          <a:p>
            <a:pPr marL="285750" indent="-285750">
              <a:buFont typeface="Wingdings" panose="05000000000000000000" pitchFamily="2" charset="2"/>
              <a:buChar char="v"/>
            </a:pPr>
            <a:r>
              <a:rPr lang="fr-FR" dirty="0"/>
              <a:t> Bootstrap Icons : pour intégrer des icônes modernes et améliorer l’interface utilisateur.</a:t>
            </a:r>
          </a:p>
          <a:p>
            <a:pPr marL="285750" indent="-285750">
              <a:buFont typeface="Wingdings" panose="05000000000000000000" pitchFamily="2" charset="2"/>
              <a:buChar char="v"/>
            </a:pPr>
            <a:r>
              <a:rPr lang="fr-FR" dirty="0"/>
              <a:t>Google : pour effectuer des recherches, comprendre certains concepts de programmation et trouver des solutions à des problèmes rencontrés pendant le développement.</a:t>
            </a:r>
          </a:p>
          <a:p>
            <a:pPr marL="285750" indent="-285750">
              <a:buFont typeface="Wingdings" panose="05000000000000000000" pitchFamily="2" charset="2"/>
              <a:buChar char="v"/>
            </a:pPr>
            <a:r>
              <a:rPr lang="fr-FR" dirty="0"/>
              <a:t> Tutoriels en ligne (articles et vidéos) : pour apprendre de nouvelles techniques, mieux comprendre HTML, CSS, JavaScript et Bootstrap, et mettre en pratique les bonnes méthodes de développement.</a:t>
            </a:r>
          </a:p>
          <a:p>
            <a:pPr marL="285750" indent="-285750">
              <a:buFont typeface="Wingdings" panose="05000000000000000000" pitchFamily="2" charset="2"/>
              <a:buChar char="v"/>
            </a:pPr>
            <a:endParaRPr lang="fr-FR" dirty="0"/>
          </a:p>
          <a:p>
            <a:r>
              <a:rPr lang="fr-FR" dirty="0"/>
              <a:t>Ces différentes ressources m’ont permis de réaliser un site fonctionnel, esthétique et conforme aux bonnes pratiques du développement web.</a:t>
            </a:r>
          </a:p>
        </p:txBody>
      </p:sp>
    </p:spTree>
    <p:extLst>
      <p:ext uri="{BB962C8B-B14F-4D97-AF65-F5344CB8AC3E}">
        <p14:creationId xmlns:p14="http://schemas.microsoft.com/office/powerpoint/2010/main" val="290972396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49814C0-11BB-4894-9914-43646507271C}"/>
              </a:ext>
            </a:extLst>
          </p:cNvPr>
          <p:cNvSpPr txBox="1"/>
          <p:nvPr/>
        </p:nvSpPr>
        <p:spPr>
          <a:xfrm>
            <a:off x="449943" y="-580571"/>
            <a:ext cx="8704331" cy="7232749"/>
          </a:xfrm>
          <a:prstGeom prst="rect">
            <a:avLst/>
          </a:prstGeom>
          <a:noFill/>
        </p:spPr>
        <p:txBody>
          <a:bodyPr wrap="square">
            <a:spAutoFit/>
          </a:bodyPr>
          <a:lstStyle/>
          <a:p>
            <a:pPr algn="ctr"/>
            <a:endParaRPr lang="fr-FR" dirty="0"/>
          </a:p>
          <a:p>
            <a:pPr algn="ctr"/>
            <a:endParaRPr lang="fr-FR" dirty="0"/>
          </a:p>
          <a:p>
            <a:pPr algn="ctr"/>
            <a:r>
              <a:rPr lang="fr-FR" sz="3200" dirty="0">
                <a:latin typeface="Arial Rounded MT Bold" panose="020F0704030504030204" pitchFamily="34" charset="0"/>
              </a:rPr>
              <a:t>Démonstration live du site</a:t>
            </a:r>
          </a:p>
          <a:p>
            <a:endParaRPr lang="fr-FR" dirty="0"/>
          </a:p>
          <a:p>
            <a:pPr algn="ctr"/>
            <a:r>
              <a:rPr lang="fr-FR" dirty="0"/>
              <a:t>Présentation des différentes pages</a:t>
            </a:r>
          </a:p>
          <a:p>
            <a:r>
              <a:rPr lang="fr-FR" dirty="0"/>
              <a:t>Au cours de la démonstration, je vais présenter les principales fonctionnalités du site en naviguant entre les différentes pages.</a:t>
            </a:r>
          </a:p>
          <a:p>
            <a:endParaRPr lang="fr-FR" dirty="0"/>
          </a:p>
          <a:p>
            <a:pPr marL="285750" indent="-285750">
              <a:buFont typeface="Wingdings" panose="05000000000000000000" pitchFamily="2" charset="2"/>
              <a:buChar char="Ø"/>
            </a:pPr>
            <a:r>
              <a:rPr lang="fr-FR" dirty="0"/>
              <a:t>Accueil (Index) : présentation d’AfriTalent, de ses objectifs et de la navigation vers les autres pages.</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dirty="0"/>
              <a:t>À propos : explication de la mission de la plateforme, de ses valeurs et des avantages qu’elle offre aux freelances et aux clients.</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dirty="0"/>
              <a:t>Freelances : affichage des profils disponibles et démonstration du système de filtrage permettant de rechercher un freelance selon son domaine de compétence.</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dirty="0"/>
              <a:t>Tarifs : présentation des différentes offres et des services proposés, avec une mise en page claire grâce aux cartes Bootstrap.</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dirty="0"/>
              <a:t>Contact : démonstration du formulaire de contact, de la validation des informations saisies et de son interface responsive.</a:t>
            </a:r>
          </a:p>
          <a:p>
            <a:pPr marL="285750" indent="-285750">
              <a:buFont typeface="Wingdings" panose="05000000000000000000" pitchFamily="2" charset="2"/>
              <a:buChar char="Ø"/>
            </a:pPr>
            <a:endParaRPr lang="fr-FR" dirty="0"/>
          </a:p>
          <a:p>
            <a:endParaRPr lang="fr-FR" dirty="0"/>
          </a:p>
        </p:txBody>
      </p:sp>
    </p:spTree>
    <p:extLst>
      <p:ext uri="{BB962C8B-B14F-4D97-AF65-F5344CB8AC3E}">
        <p14:creationId xmlns:p14="http://schemas.microsoft.com/office/powerpoint/2010/main" val="784706507"/>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33C3256-0667-9E6A-0AD9-F7BCAAFC45FC}"/>
              </a:ext>
            </a:extLst>
          </p:cNvPr>
          <p:cNvSpPr txBox="1"/>
          <p:nvPr/>
        </p:nvSpPr>
        <p:spPr>
          <a:xfrm>
            <a:off x="1022684" y="517359"/>
            <a:ext cx="8127331" cy="4708981"/>
          </a:xfrm>
          <a:prstGeom prst="rect">
            <a:avLst/>
          </a:prstGeom>
          <a:noFill/>
        </p:spPr>
        <p:txBody>
          <a:bodyPr wrap="square">
            <a:spAutoFit/>
          </a:bodyPr>
          <a:lstStyle/>
          <a:p>
            <a:pPr algn="ctr"/>
            <a:r>
              <a:rPr lang="fr-FR" dirty="0"/>
              <a:t> </a:t>
            </a:r>
            <a:r>
              <a:rPr lang="fr-FR" sz="3600" dirty="0">
                <a:latin typeface="Arial Rounded MT Bold" panose="020F0704030504030204" pitchFamily="34" charset="0"/>
              </a:rPr>
              <a:t>Conclusion </a:t>
            </a:r>
          </a:p>
          <a:p>
            <a:r>
              <a:rPr lang="fr-FR" sz="2400" dirty="0">
                <a:latin typeface="Arial Rounded MT Bold" panose="020F0704030504030204" pitchFamily="34" charset="0"/>
              </a:rPr>
              <a:t>Ce projet m’a permis de mettre en pratique les compétences acquises en HTML, CSS, JavaScript et Bootstrap. J’ai appris à concevoir un site web responsive, à organiser les fichiers d’un projet, à utiliser GitHub pour le suivi des versions et à résoudre différents problèmes techniques rencontrés pendant le développement</a:t>
            </a:r>
          </a:p>
          <a:p>
            <a:r>
              <a:rPr lang="fr-FR" sz="2400" dirty="0">
                <a:latin typeface="Arial Rounded MT Bold" panose="020F0704030504030204" pitchFamily="34" charset="0"/>
              </a:rPr>
              <a:t>La réalisation d’AfriTalent m’a également permis d’améliorer ma logique de programmation, mon sens de l’organisation et ma capacité à créer une interface moderne et facile à utilise</a:t>
            </a:r>
          </a:p>
        </p:txBody>
      </p:sp>
    </p:spTree>
    <p:extLst>
      <p:ext uri="{BB962C8B-B14F-4D97-AF65-F5344CB8AC3E}">
        <p14:creationId xmlns:p14="http://schemas.microsoft.com/office/powerpoint/2010/main" val="379634498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88FD45C-E33B-9330-EE25-F441FCFD3276}"/>
              </a:ext>
            </a:extLst>
          </p:cNvPr>
          <p:cNvSpPr txBox="1"/>
          <p:nvPr/>
        </p:nvSpPr>
        <p:spPr>
          <a:xfrm>
            <a:off x="866274" y="421105"/>
            <a:ext cx="8283741" cy="5016758"/>
          </a:xfrm>
          <a:prstGeom prst="rect">
            <a:avLst/>
          </a:prstGeom>
          <a:noFill/>
        </p:spPr>
        <p:txBody>
          <a:bodyPr wrap="square">
            <a:spAutoFit/>
          </a:bodyPr>
          <a:lstStyle/>
          <a:p>
            <a:pPr algn="ctr"/>
            <a:r>
              <a:rPr lang="fr-FR" sz="3200" dirty="0"/>
              <a:t>Perspectives d’amélioration</a:t>
            </a:r>
          </a:p>
          <a:p>
            <a:r>
              <a:rPr lang="fr-FR" sz="2400" dirty="0">
                <a:latin typeface="Arial Rounded MT Bold" panose="020F0704030504030204" pitchFamily="34" charset="0"/>
              </a:rPr>
              <a:t>Pour faire évoluer le projet, plusieurs améliorations pourraient être apportées :</a:t>
            </a:r>
          </a:p>
          <a:p>
            <a:pPr marL="342900" indent="-342900">
              <a:buFont typeface="Wingdings" panose="05000000000000000000" pitchFamily="2" charset="2"/>
              <a:buChar char="v"/>
            </a:pPr>
            <a:r>
              <a:rPr lang="fr-FR" sz="2400" dirty="0">
                <a:latin typeface="Arial Rounded MT Bold" panose="020F0704030504030204" pitchFamily="34" charset="0"/>
              </a:rPr>
              <a:t>Ajouter une base de données pour enregistrer les informations des utilisateurs.</a:t>
            </a:r>
          </a:p>
          <a:p>
            <a:pPr marL="342900" indent="-342900">
              <a:buFont typeface="Wingdings" panose="05000000000000000000" pitchFamily="2" charset="2"/>
              <a:buChar char="v"/>
            </a:pPr>
            <a:r>
              <a:rPr lang="fr-FR" sz="2400" dirty="0">
                <a:latin typeface="Arial Rounded MT Bold" panose="020F0704030504030204" pitchFamily="34" charset="0"/>
              </a:rPr>
              <a:t>Mettre en place un système de connexion et de création de compte.</a:t>
            </a:r>
          </a:p>
          <a:p>
            <a:pPr marL="342900" indent="-342900">
              <a:buFont typeface="Wingdings" panose="05000000000000000000" pitchFamily="2" charset="2"/>
              <a:buChar char="v"/>
            </a:pPr>
            <a:r>
              <a:rPr lang="fr-FR" sz="2400" dirty="0">
                <a:latin typeface="Arial Rounded MT Bold" panose="020F0704030504030204" pitchFamily="34" charset="0"/>
              </a:rPr>
              <a:t>Ajouter une messagerie entre les clients et les freelances.</a:t>
            </a:r>
          </a:p>
          <a:p>
            <a:pPr marL="342900" indent="-342900">
              <a:buFont typeface="Wingdings" panose="05000000000000000000" pitchFamily="2" charset="2"/>
              <a:buChar char="v"/>
            </a:pPr>
            <a:r>
              <a:rPr lang="fr-FR" sz="2400" dirty="0">
                <a:latin typeface="Arial Rounded MT Bold" panose="020F0704030504030204" pitchFamily="34" charset="0"/>
              </a:rPr>
              <a:t>Intégrer un système de réservation ou de paiement en ligne.</a:t>
            </a:r>
          </a:p>
          <a:p>
            <a:pPr marL="342900" indent="-342900">
              <a:buFont typeface="Wingdings" panose="05000000000000000000" pitchFamily="2" charset="2"/>
              <a:buChar char="v"/>
            </a:pPr>
            <a:r>
              <a:rPr lang="fr-FR" sz="2400" dirty="0">
                <a:latin typeface="Arial Rounded MT Bold" panose="020F0704030504030204" pitchFamily="34" charset="0"/>
              </a:rPr>
              <a:t> Améliorer encore les performances et l’accessibilité du site</a:t>
            </a:r>
          </a:p>
        </p:txBody>
      </p:sp>
    </p:spTree>
    <p:extLst>
      <p:ext uri="{BB962C8B-B14F-4D97-AF65-F5344CB8AC3E}">
        <p14:creationId xmlns:p14="http://schemas.microsoft.com/office/powerpoint/2010/main" val="2073070867"/>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504</TotalTime>
  <Words>1634</Words>
  <Application>Microsoft Office PowerPoint</Application>
  <PresentationFormat>Grand écran</PresentationFormat>
  <Paragraphs>146</Paragraphs>
  <Slides>15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Arial</vt:lpstr>
      <vt:lpstr>Arial Rounded MT Bold</vt:lpstr>
      <vt:lpstr>Trebuchet MS</vt:lpstr>
      <vt:lpstr>Wingdings</vt:lpstr>
      <vt:lpstr>Wingdings 3</vt:lpstr>
      <vt:lpstr>Facette</vt:lpstr>
      <vt:lpstr>Projet : AfriTalent </vt:lpstr>
      <vt:lpstr>Présentation PowerPoint</vt:lpstr>
      <vt:lpstr>Présentation PowerPoint</vt:lpstr>
      <vt:lpstr>Présentation PowerPoint</vt:lpstr>
      <vt:lpstr>Présentation PowerPoint</vt:lpstr>
      <vt:lpstr>L’architecture du site est pensée pour offrir une navigation fluide, avec des pages bien organisées et facilement accessibles.</vt:lpstr>
      <vt:lpstr>c</vt:lpstr>
      <vt:lpstr>Présentation PowerPoint</vt:lpstr>
      <vt:lpstr>Présentation PowerPoint</vt:lpstr>
      <vt:lpstr>Gestion du projet avec Git et GitHub  Pour développer et gérer mon projet, j’ai utilisé Git et GitHub, ce qui m’a permis de suivre l’évolution du site et de sauvegarder régulièrement mon travail.</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2</cp:revision>
  <dcterms:created xsi:type="dcterms:W3CDTF">2026-06-28T01:34:53Z</dcterms:created>
  <dcterms:modified xsi:type="dcterms:W3CDTF">2026-06-28T17:49:58Z</dcterms:modified>
</cp:coreProperties>
</file>